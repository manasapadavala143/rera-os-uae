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6534"/>
              </a:solidFill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Occupied</c:v>
                </c:pt>
                <c:pt idx="1">
                  <c:v>Vacant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106</c:v>
                </c:pt>
                <c:pt idx="1">
                  <c:v>27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</c:v>
                  </c:pt>
                  <c:pt idx="1">
                    <c:v>S</c:v>
                  </c:pt>
                  <c:pt idx="2">
                    <c:v>E</c:v>
                  </c:pt>
                  <c:pt idx="3">
                    <c:v>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35</c:v>
                </c:pt>
                <c:pt idx="2">
                  <c:v>30</c:v>
                </c:pt>
                <c:pt idx="3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GPR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170</c:v>
                </c:pt>
                <c:pt idx="1">
                  <c:v>175</c:v>
                </c:pt>
                <c:pt idx="2">
                  <c:v>178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Collected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150</c:v>
                </c:pt>
                <c:pt idx="1">
                  <c:v>152</c:v>
                </c:pt>
                <c:pt idx="2">
                  <c:v>154</c:v>
                </c:pt>
                <c:pt idx="3">
                  <c:v>155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3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Occupancy %</c:v>
                </c:pt>
              </c:strCache>
            </c:strRef>
          </c:tx>
          <c:spPr>
            <a:solidFill>
              <a:srgbClr val="1F6FEB"/>
            </a:solidFill>
            <a:ln w="25400" cap="flat">
              <a:solidFill>
                <a:srgbClr val="1F6F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6FEB"/>
              </a:solidFill>
              <a:ln w="9525" cap="flat">
                <a:solidFill>
                  <a:srgbClr val="1F6F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78</c:v>
                </c:pt>
                <c:pt idx="1">
                  <c:v>79</c:v>
                </c:pt>
                <c:pt idx="2">
                  <c:v>80</c:v>
                </c:pt>
                <c:pt idx="3">
                  <c:v>79.7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BF6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GPR</c:v>
                  </c:pt>
                  <c:pt idx="1">
                    <c:v>Opex</c:v>
                  </c:pt>
                  <c:pt idx="2">
                    <c:v>NOI</c:v>
                  </c:pt>
                  <c:pt idx="3">
                    <c:v>Int</c:v>
                  </c:pt>
                  <c:pt idx="4">
                    <c:v>NI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55</c:v>
                </c:pt>
                <c:pt idx="2">
                  <c:v>0</c:v>
                </c:pt>
                <c:pt idx="3">
                  <c:v>37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GPR</c:v>
                  </c:pt>
                  <c:pt idx="1">
                    <c:v>Opex</c:v>
                  </c:pt>
                  <c:pt idx="2">
                    <c:v>NOI</c:v>
                  </c:pt>
                  <c:pt idx="3">
                    <c:v>Int</c:v>
                  </c:pt>
                  <c:pt idx="4">
                    <c:v>NI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155</c:v>
                </c:pt>
                <c:pt idx="1">
                  <c:v>100</c:v>
                </c:pt>
                <c:pt idx="2">
                  <c:v>55</c:v>
                </c:pt>
                <c:pt idx="3">
                  <c:v>18</c:v>
                </c:pt>
                <c:pt idx="4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170</c:v>
                </c:pt>
                <c:pt idx="1">
                  <c:v>175</c:v>
                </c:pt>
                <c:pt idx="2">
                  <c:v>178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102</c:v>
                </c:pt>
                <c:pt idx="2">
                  <c:v>101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NOI</c:v>
                </c:pt>
              </c:strCache>
            </c:strRef>
          </c:tx>
          <c:spPr>
            <a:solidFill>
              <a:srgbClr val="166534"/>
            </a:solidFill>
            <a:ln w="25400" cap="flat">
              <a:solidFill>
                <a:srgbClr val="1665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6534"/>
              </a:solidFill>
              <a:ln w="9525" cap="flat">
                <a:solidFill>
                  <a:srgbClr val="1665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50</c:v>
                </c:pt>
                <c:pt idx="1">
                  <c:v>52</c:v>
                </c:pt>
                <c:pt idx="2">
                  <c:v>54</c:v>
                </c:pt>
                <c:pt idx="3">
                  <c:v>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</c:v>
                </c:pt>
              </c:strCache>
            </c:strRef>
          </c:tx>
          <c:spPr>
            <a:solidFill>
              <a:srgbClr val="1F6FEB"/>
            </a:solidFill>
            <a:ln w="38100" cap="flat">
              <a:solidFill>
                <a:srgbClr val="1F6F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6FEB"/>
              </a:solidFill>
              <a:ln w="9525" cap="flat">
                <a:solidFill>
                  <a:srgbClr val="1F6F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190</c:v>
                </c:pt>
                <c:pt idx="2">
                  <c:v>200</c:v>
                </c:pt>
                <c:pt idx="3">
                  <c:v>220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DSCR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</c:v>
                  </c:pt>
                  <c:pt idx="1">
                    <c:v>S</c:v>
                  </c:pt>
                  <c:pt idx="2">
                    <c:v>E</c:v>
                  </c:pt>
                  <c:pt idx="3">
                    <c:v>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1.05</c:v>
                </c:pt>
                <c:pt idx="1">
                  <c:v>1.4</c:v>
                </c:pt>
                <c:pt idx="2">
                  <c:v>1.25</c:v>
                </c:pt>
                <c:pt idx="3">
                  <c:v>0.95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1.2x</c:v>
                </c:pt>
              </c:strCache>
            </c:strRef>
          </c:tx>
          <c:spPr>
            <a:solidFill>
              <a:srgbClr val="B91C1C"/>
            </a:solidFill>
            <a:ln w="25400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</c:v>
                  </c:pt>
                  <c:pt idx="1">
                    <c:v>S</c:v>
                  </c:pt>
                  <c:pt idx="2">
                    <c:v>E</c:v>
                  </c:pt>
                  <c:pt idx="3">
                    <c:v>W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</c:v>
                </c:pt>
                <c:pt idx="1">
                  <c:v>1.2</c:v>
                </c:pt>
                <c:pt idx="2">
                  <c:v>1.2</c:v>
                </c:pt>
                <c:pt idx="3">
                  <c:v>1.2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</c:v>
                  </c:pt>
                  <c:pt idx="1">
                    <c:v>S</c:v>
                  </c:pt>
                  <c:pt idx="2">
                    <c:v>E</c:v>
                  </c:pt>
                  <c:pt idx="3">
                    <c:v>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55</c:v>
                </c:pt>
                <c:pt idx="2">
                  <c:v>68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 Risk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</c:v>
                  </c:pt>
                  <c:pt idx="1">
                    <c:v>S</c:v>
                  </c:pt>
                  <c:pt idx="2">
                    <c:v>E</c:v>
                  </c:pt>
                  <c:pt idx="3">
                    <c:v>W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</c:v>
                </c:pt>
                <c:pt idx="1">
                  <c:v>0</c:v>
                </c:pt>
                <c:pt idx="2">
                  <c:v>0</c:v>
                </c:pt>
                <c:pt idx="3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F37"/>
              </a:solidFill>
              <a:effectLst/>
            </c:spPr>
          </c:dPt>
          <c:dPt>
            <c:idx val="1"/>
            <c:bubble3D val="0"/>
            <c:spPr>
              <a:solidFill>
                <a:srgbClr val="1F6FEB"/>
              </a:solidFill>
              <a:effectLst/>
            </c:spPr>
          </c:dPt>
          <c:dPt>
            <c:idx val="2"/>
            <c:bubble3D val="0"/>
            <c:spPr>
              <a:solidFill>
                <a:srgbClr val="16653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NOI Margin</c:v>
                </c:pt>
              </c:strCache>
            </c:strRef>
          </c:tx>
          <c:spPr>
            <a:solidFill>
              <a:srgbClr val="0F766E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82</c:v>
                </c:pt>
                <c:pt idx="1">
                  <c:v>91</c:v>
                </c:pt>
                <c:pt idx="2">
                  <c:v>75</c:v>
                </c:pt>
                <c:pt idx="3">
                  <c:v>70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32</c:v>
                </c:pt>
                <c:pt idx="2">
                  <c:v>18</c:v>
                </c:pt>
                <c:pt idx="3">
                  <c:v>12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Slide 3 charts</a:t>
            </a:r>
            <a:endParaRPr lang="en-US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64008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0" y="6400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Slide 4 combo</a:t>
            </a:r>
            <a:endParaRPr lang="en-US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64008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Slide 5 waterfall + trend</a:t>
            </a:r>
            <a:endParaRPr lang="en-US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640080"/>
          <a:ext cx="4023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640080"/>
          <a:ext cx="4023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Slide 6 cash line</a:t>
            </a:r>
            <a:endParaRPr lang="en-US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64008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Slide 8 DSCR/LTV</a:t>
            </a:r>
            <a:endParaRPr lang="en-US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64008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640080"/>
          <a:ext cx="4023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Slide 9 ownership + Slide 10 scatter</a:t>
            </a:r>
            <a:endParaRPr lang="en-US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64008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0" y="6400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2026-07-08T10:05:37Z</dcterms:created>
  <dcterms:modified xsi:type="dcterms:W3CDTF">2026-07-08T10:05:37Z</dcterms:modified>
</cp:coreProperties>
</file>